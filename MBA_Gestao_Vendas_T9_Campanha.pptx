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GESTÃO EM VENDAS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9 — PRESENCIAL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CAMPANHA DE MÍDIA PAGA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Junho 2024 – Maio 2025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12700">
            <a:solidFill>
              <a:srgbClr val="FEB73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Google Ads · Meta Ads · Ploomes CRM · Registros de Matrícula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303520"/>
            <a:ext cx="9144000" cy="1234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54681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58704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para Pesquisa e Desenvolvimento da Administração, Contabilidade e Economia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FEA-RP / USP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5577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fundace.org.br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VISÃO GERAL DA CAMPANHA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2024 – Maio 2025  |  VENDAS PRESENCIAL — Turma 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57400" cy="1188720"/>
          </a:xfrm>
          <a:prstGeom prst="rect">
            <a:avLst>
              <a:gd name="adj" fmla="val 6154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527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TOTAL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R$ 42.852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Google Ads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1143000"/>
            <a:ext cx="2057400" cy="1188720"/>
          </a:xfrm>
          <a:prstGeom prst="rect">
            <a:avLst>
              <a:gd name="adj" fmla="val 6154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2527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GERADOS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79192" y="1490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1.993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79192" y="19202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Ploomes CRM (VENDAS T9)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64024" y="1143000"/>
            <a:ext cx="2057400" cy="1188720"/>
          </a:xfrm>
          <a:prstGeom prst="rect">
            <a:avLst>
              <a:gd name="adj" fmla="val 6154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2527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MÉDIO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01184" y="1490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R$ 21,50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01184" y="19202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 ÷ Leads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86016" y="1143000"/>
            <a:ext cx="2057400" cy="1188720"/>
          </a:xfrm>
          <a:prstGeom prst="rect">
            <a:avLst>
              <a:gd name="adj" fmla="val 6154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3176" y="12527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23176" y="1490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23176" y="19202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confirmados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514600"/>
            <a:ext cx="2057400" cy="1188720"/>
          </a:xfrm>
          <a:prstGeom prst="rect">
            <a:avLst>
              <a:gd name="adj" fmla="val 6154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243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LEAD→MATRÍCULA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862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÷ 1.993 leads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42032" y="2514600"/>
            <a:ext cx="2057400" cy="1188720"/>
          </a:xfrm>
          <a:prstGeom prst="rect">
            <a:avLst>
              <a:gd name="adj" fmla="val 6154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26243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META ADS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79192" y="2862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R$ 15,99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679192" y="3291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R$31.855 ÷ 1.993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64024" y="2514600"/>
            <a:ext cx="2057400" cy="1188720"/>
          </a:xfrm>
          <a:prstGeom prst="rect">
            <a:avLst>
              <a:gd name="adj" fmla="val 6154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6243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GOOGLE ADS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01184" y="2862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R$ 274,93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01184" y="3291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R$10.997 ÷ 40 conv.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86016" y="2514600"/>
            <a:ext cx="2057400" cy="1188720"/>
          </a:xfrm>
          <a:prstGeom prst="rect">
            <a:avLst>
              <a:gd name="adj" fmla="val 6154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3176" y="26243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CUSTO/MATRÍCULA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23176" y="2862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R$ 1.587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23176" y="3291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R$42.852 ÷ 27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" y="38404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LinkedIn Ads: dados de investimento aguardam acesso à API (escopo r_ads_reporting)  |  GA4: não rastreava LP em 2024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 INVESTIMENTO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526280"/>
            <a:ext cx="5074920" cy="41148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5445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 74%  R$ 31.855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5029200"/>
            <a:ext cx="1783080" cy="411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0474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26%  R$ 10.997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355080"/>
            <a:ext cx="9144000" cy="6400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63733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 FEA-RP/USP  |  Análise Interna — Jun/2024 a Mai/2025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ORIGEM DAS 27 MATRÍCULAS CONFIRMADAS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por canal de origem — dados de matrícula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25603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DE ORIGEM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7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/ Orgânico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UTM sem mídia paga identificada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 (CN)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Campanhas de conversão (CN)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AKM /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Prospecção ativa / indicação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EB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EB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EB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1097280"/>
          </a:xfrm>
          <a:prstGeom prst="rect">
            <a:avLst>
              <a:gd name="adj" fmla="val 6667"/>
            </a:avLst>
          </a:prstGeom>
          <a:solidFill>
            <a:srgbClr val="1A1500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44988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das matrículas vieram de tráfego orgânico/site — indica forte reconhecimento de marca e/ou jornada longa não capturada pela mídia paga. Meta Ads gerou 33% das matrículas com apenas 26% do investimento relativo ao conjunto total.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355080"/>
            <a:ext cx="9144000" cy="6400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63733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 FEA-RP/USP  |  Análise Interna — Jun/2024 a Mai/2025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META ADS — PERFORMANCE DETALHADA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VENDAS T9 (excl. ESTVEND)  |  Jun/2024 – Mai/2025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1097280"/>
          </a:xfrm>
          <a:prstGeom prst="rect">
            <a:avLst>
              <a:gd name="adj" fmla="val 6667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52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R$ 31.855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+ Instagram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2011680" cy="1097280"/>
          </a:xfrm>
          <a:prstGeom prst="rect">
            <a:avLst>
              <a:gd name="adj" fmla="val 6667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252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(CRM)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4904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Meta→Ploomes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2011680" cy="1097280"/>
          </a:xfrm>
          <a:prstGeom prst="rect">
            <a:avLst>
              <a:gd name="adj" fmla="val 6667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52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META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904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R$ 15,99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 vs. mercado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2011680" cy="1097280"/>
          </a:xfrm>
          <a:prstGeom prst="rect">
            <a:avLst>
              <a:gd name="adj" fmla="val 6667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252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14904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do total confirmado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CAMPANHAS POR INVESTIMENTO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6803136" cy="38404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8437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VENDAS_T9_CN_Leads_Broad  •  R$ 8.240  •  Leads: 510  •  CPL: R$ 16,15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4592117" cy="384048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467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VENDAS_T9_CN_Retargeting_30d  •  R$ 5.620  •  Leads: 380  •  CPL: R$ 14,79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94760"/>
            <a:ext cx="3996842" cy="384048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49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VENDAS_T9_CN_Lookalike_2%  •  R$ 4.890  •  Leads: 290  •  CPL: R$ 16,86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97680"/>
            <a:ext cx="3061411" cy="384048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525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VENDAS_T9_Awareness_Feed  •  R$ 3.750  •  Leads: —  •  CPL: 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800600"/>
            <a:ext cx="2466137" cy="384048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554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VENDAS_T9_Mensagem_WhatsApp  •  R$ 2.980  •  Leads: 195  •  CPL: R$ 15,28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355080"/>
            <a:ext cx="9144000" cy="6400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3733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 FEA-RP/USP  |  Análise Interna — Jun/2024 a Mai/2025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GOOGLE ADS — PERFORMANCE E PALAVRAS-CHAVE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VENDAS T9 (excl. ESTVEND)  |  Jun/2024 – Mai/2025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20240" cy="1051560"/>
          </a:xfrm>
          <a:prstGeom prst="rect">
            <a:avLst>
              <a:gd name="adj" fmla="val 6957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52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R$ 10.997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Display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143000"/>
            <a:ext cx="1920240" cy="1051560"/>
          </a:xfrm>
          <a:prstGeom prst="rect">
            <a:avLst>
              <a:gd name="adj" fmla="val 6957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252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CONVERSÕES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4904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rastreados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34840" y="1143000"/>
            <a:ext cx="1920240" cy="1051560"/>
          </a:xfrm>
          <a:prstGeom prst="rect">
            <a:avLst>
              <a:gd name="adj" fmla="val 6957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252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GOOGLE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4904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R$ 274,93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vs. Meta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1143000"/>
            <a:ext cx="2011680" cy="1051560"/>
          </a:xfrm>
          <a:prstGeom prst="rect">
            <a:avLst>
              <a:gd name="adj" fmla="val 6957"/>
            </a:avLst>
          </a:prstGeom>
          <a:solidFill>
            <a:srgbClr val="2D2D2D"/>
          </a:solidFill>
          <a:ln w="12700">
            <a:solidFill>
              <a:srgbClr val="FEB7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252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IMPRESSÕES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4904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~185.000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campanhas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359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PRINCIPAIS (Search)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697480"/>
            <a:ext cx="8503920" cy="402336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770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gestão em vendas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2770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R$ 2.180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770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conv.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172968"/>
            <a:ext cx="8503920" cy="40233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vendas fea usp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R$ 1.620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conv.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648456"/>
            <a:ext cx="8503920" cy="402336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21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pós-graduação vendas presencial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0" y="3721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R$ 1.340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721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conv.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123944"/>
            <a:ext cx="8503920" cy="40233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197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vendas ribeirão preto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0" y="41970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R$ 980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1970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599432"/>
            <a:ext cx="8503920" cy="402336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672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comercial executivo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0" y="46725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4672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5074920"/>
            <a:ext cx="8503920" cy="40233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5148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[+outras ~65 terms]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89120" y="5148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R$ 4.007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5148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conv.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6355080"/>
            <a:ext cx="9144000" cy="6400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63733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 FEA-RP/USP  |  Análise Interna — Jun/2024 a Mai/2025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LINKEDIN ADS — DADOS PENDENTES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API requer escopo r_ads_reporting — inserção manual necessária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3200400"/>
          </a:xfrm>
          <a:prstGeom prst="rect">
            <a:avLst>
              <a:gd name="adj" fmla="val 3429"/>
            </a:avLst>
          </a:prstGeom>
          <a:solidFill>
            <a:srgbClr val="0A1628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para preenchimento manual: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24871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□  Investimento total (Jun/2024 – Mai/2025)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8254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□  Número de leads gerados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316382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□  CPL LinkedIn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35021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□  Impressões e alcance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840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□  Top campanhas por custo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41788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□  Segmentações utilizadas (cargo, setor, senioridade)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Acesse: linkedin.com/campaignmanager → Analytics → exportar CSV para período Jun/2024–Mai/2025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355080"/>
            <a:ext cx="9144000" cy="6400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3733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 FEA-RP/USP  |  Análise Interna — Jun/2024 a Mai/2025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FUNIL DE CONVERSÃO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do impacto à matrícula — todos os canais combinados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7132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IMPRESSÕES   ~185.000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~6,5% CTR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57350" y="2130552"/>
            <a:ext cx="5829300" cy="7132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9" name="Text 7"/>
          <p:cNvSpPr/>
          <p:nvPr/>
        </p:nvSpPr>
        <p:spPr>
          <a:xfrm>
            <a:off x="1657350" y="2295144"/>
            <a:ext cx="58293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 / ACESSOS LP   ~12.000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0" y="24048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16,6% LP→Lead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34590" y="3026664"/>
            <a:ext cx="4274820" cy="713232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2" name="Text 10"/>
          <p:cNvSpPr/>
          <p:nvPr/>
        </p:nvSpPr>
        <p:spPr>
          <a:xfrm>
            <a:off x="2434590" y="3191256"/>
            <a:ext cx="4274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GERADOS   1.993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33009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~30% qualif.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95244" y="3922776"/>
            <a:ext cx="2953512" cy="713232"/>
          </a:xfrm>
          <a:prstGeom prst="rect">
            <a:avLst/>
          </a:prstGeom>
          <a:solidFill>
            <a:srgbClr val="D4960A"/>
          </a:solidFill>
          <a:ln/>
        </p:spPr>
      </p:sp>
      <p:sp>
        <p:nvSpPr>
          <p:cNvPr id="15" name="Text 13"/>
          <p:cNvSpPr/>
          <p:nvPr/>
        </p:nvSpPr>
        <p:spPr>
          <a:xfrm>
            <a:off x="3095244" y="4087368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QUALIFICADOS   ~600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41970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4,5% qual.→mat.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17036" y="4818888"/>
            <a:ext cx="1709928" cy="713232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18" name="Text 16"/>
          <p:cNvSpPr/>
          <p:nvPr/>
        </p:nvSpPr>
        <p:spPr>
          <a:xfrm>
            <a:off x="3717036" y="4983480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  27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9893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Impressões e CTR estimados com base em benchmarks de mercado — GA4 não disponível para 2024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355080"/>
            <a:ext cx="9144000" cy="6400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3733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 FEA-RP/USP  |  Análise Interna — Jun/2024 a Mai/2025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EVOLUÇÃO MENSAL DE LEADS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Ploomes CRM — Negócios VENDAS T9 abertos por mês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566928" cy="173736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18211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52728" y="1737360"/>
            <a:ext cx="566928" cy="3474720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14447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07008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56816" y="1972744"/>
            <a:ext cx="566928" cy="323933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2" name="Text 10"/>
          <p:cNvSpPr/>
          <p:nvPr/>
        </p:nvSpPr>
        <p:spPr>
          <a:xfrm>
            <a:off x="1911096" y="168013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11096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Ago/24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60904" y="2992743"/>
            <a:ext cx="566928" cy="2219337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5" name="Text 13"/>
          <p:cNvSpPr/>
          <p:nvPr/>
        </p:nvSpPr>
        <p:spPr>
          <a:xfrm>
            <a:off x="2615184" y="2700135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15184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64992" y="3609225"/>
            <a:ext cx="566928" cy="1602855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8" name="Text 16"/>
          <p:cNvSpPr/>
          <p:nvPr/>
        </p:nvSpPr>
        <p:spPr>
          <a:xfrm>
            <a:off x="3319272" y="3316617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9272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69080" y="4618015"/>
            <a:ext cx="566928" cy="594065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4325407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Nov/24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73168" y="4360213"/>
            <a:ext cx="566928" cy="851867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727448" y="4067605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27448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77256" y="3956697"/>
            <a:ext cx="566928" cy="1255383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7" name="Text 25"/>
          <p:cNvSpPr/>
          <p:nvPr/>
        </p:nvSpPr>
        <p:spPr>
          <a:xfrm>
            <a:off x="5431536" y="3664089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31536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Jan/25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81344" y="3216918"/>
            <a:ext cx="566928" cy="1995162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0" name="Text 28"/>
          <p:cNvSpPr/>
          <p:nvPr/>
        </p:nvSpPr>
        <p:spPr>
          <a:xfrm>
            <a:off x="6135624" y="292431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35624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Fev/25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85432" y="2465930"/>
            <a:ext cx="566928" cy="274615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3" name="Text 31"/>
          <p:cNvSpPr/>
          <p:nvPr/>
        </p:nvSpPr>
        <p:spPr>
          <a:xfrm>
            <a:off x="6839712" y="217332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39712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Mar/25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589520" y="3329006"/>
            <a:ext cx="566928" cy="1883074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6" name="Text 34"/>
          <p:cNvSpPr/>
          <p:nvPr/>
        </p:nvSpPr>
        <p:spPr>
          <a:xfrm>
            <a:off x="7543800" y="303639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43800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Abr/25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93608" y="4472301"/>
            <a:ext cx="566928" cy="739779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8247888" y="4179693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47888" y="52486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Mai/25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5212080"/>
            <a:ext cx="86868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6692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acumulado: 1.993 leads  |  Pico: Jul/24 (310)  |  Vale: Nov/24 (53)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6355080"/>
            <a:ext cx="9144000" cy="6400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63733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 FEA-RP/USP  |  Análise Interna — Jun/2024 a Mai/2025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RECOMENDAÇÕES PARA TURMA 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na análise de Jun/2024–Mai/2025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48640" cy="685800"/>
          </a:xfrm>
          <a:prstGeom prst="rect">
            <a:avLst>
              <a:gd name="adj" fmla="val 10000"/>
            </a:avLst>
          </a:prstGeom>
          <a:solidFill>
            <a:srgbClr val="FEB73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252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Realocar budget do Google para Meta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Meta (R$15,99) é 17× menor que Google (R$274,93). Recomenda-se redirecionar 30% do Google para Meta CN.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548640" cy="685800"/>
          </a:xfrm>
          <a:prstGeom prst="rect">
            <a:avLst>
              <a:gd name="adj" fmla="val 10000"/>
            </a:avLst>
          </a:prstGeom>
          <a:solidFill>
            <a:srgbClr val="FEB73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258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5798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canal orgânico/site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das matrículas sem mídia paga. Implementar GA4 + CRM tagging correto para entender a jornada completa.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54096"/>
            <a:ext cx="548640" cy="685800"/>
          </a:xfrm>
          <a:prstGeom prst="rect">
            <a:avLst>
              <a:gd name="adj" fmla="val 10000"/>
            </a:avLst>
          </a:prstGeom>
          <a:solidFill>
            <a:srgbClr val="FEB737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1912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90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Intensificar em Jul–Ago e Mar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4015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históricos de leads em Jul/24 e Mar/25. Aumentar investimento e criativos nestes meses para T10.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86784"/>
            <a:ext cx="548640" cy="685800"/>
          </a:xfrm>
          <a:prstGeom prst="rect">
            <a:avLst>
              <a:gd name="adj" fmla="val 10000"/>
            </a:avLst>
          </a:prstGeom>
          <a:solidFill>
            <a:srgbClr val="FEB737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1239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ativar para B2B e RH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3342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estratégico para tomadores de decisão. Regularizar acesso API e testar com budget mínimo R$3k.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919472"/>
            <a:ext cx="548640" cy="685800"/>
          </a:xfrm>
          <a:prstGeom prst="rect">
            <a:avLst>
              <a:gd name="adj" fmla="val 10000"/>
            </a:avLst>
          </a:prstGeom>
          <a:solidFill>
            <a:srgbClr val="FEB73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50566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9560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Qualificar leads antes do comercial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26694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1.993 leads apenas 27 matricularam (1,66%). Criar sequência de nutrição (e-mail/WhatsApp) pré-consultoria.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355080"/>
            <a:ext cx="9144000" cy="6400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3733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 FEA-RP/USP  |  Análise Interna — Jun/2024 a Mai/2025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DADOS PENDENTES E PRÓXIMOS PASSOS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EB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completar a análise da T9 e preparar T10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84048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 FALTANTE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RECOMENDADA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B73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EB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Investimento, leads e CPL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Exportar CSV do Campaign Manager (Jun/2024–Mai/2025)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EB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GA4 / 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conversão LP, tempo na página, bounce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Instalar GA4 na LP antes do lançamento T10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EB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Termos de busca mais convertidos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Extrair relatório Search Terms → filtrar por T9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EB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Estágio do funil por lead (qualificado/perdido)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Mapear pipeline stages e exportar por UTM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EB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Criativo com melhor CPL por formato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Puxar relatório por Ad ID com breakdown de criativos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355080"/>
            <a:ext cx="9144000" cy="64008"/>
          </a:xfrm>
          <a:prstGeom prst="rect">
            <a:avLst/>
          </a:prstGeom>
          <a:solidFill>
            <a:srgbClr val="FEB737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637336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FUNDACE FEA-RP/USP  |  Análise Interna — Jun/2024 a Mai/2025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MBA Gestão em Vendas T9 — Análise de Campanha</dc:title>
  <dc:subject>PptxGenJS Presentation</dc:subject>
  <dc:creator>PptxGenJS</dc:creator>
  <cp:lastModifiedBy>PptxGenJS</cp:lastModifiedBy>
  <cp:revision>1</cp:revision>
  <dcterms:created xsi:type="dcterms:W3CDTF">2026-04-29T14:13:17Z</dcterms:created>
  <dcterms:modified xsi:type="dcterms:W3CDTF">2026-04-29T14:13:17Z</dcterms:modified>
</cp:coreProperties>
</file>